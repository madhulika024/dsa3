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4" r:id="rId3"/>
    <p:sldId id="258" r:id="rId4"/>
    <p:sldId id="261" r:id="rId5"/>
    <p:sldId id="265" r:id="rId6"/>
    <p:sldId id="259"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lika Chilumula" userId="607cf3fa0c7e2317" providerId="LiveId" clId="{FEEC5A1D-66EA-416F-8AFF-911E55FB040C}"/>
    <pc:docChg chg="undo custSel modSld">
      <pc:chgData name="Madhulika Chilumula" userId="607cf3fa0c7e2317" providerId="LiveId" clId="{FEEC5A1D-66EA-416F-8AFF-911E55FB040C}" dt="2026-09-01T04:16:06.824" v="18" actId="2711"/>
      <pc:docMkLst>
        <pc:docMk/>
      </pc:docMkLst>
      <pc:sldChg chg="modSp mod">
        <pc:chgData name="Madhulika Chilumula" userId="607cf3fa0c7e2317" providerId="LiveId" clId="{FEEC5A1D-66EA-416F-8AFF-911E55FB040C}" dt="2026-09-01T04:13:29.103" v="0" actId="1076"/>
        <pc:sldMkLst>
          <pc:docMk/>
          <pc:sldMk cId="0" sldId="258"/>
        </pc:sldMkLst>
        <pc:spChg chg="mod">
          <ac:chgData name="Madhulika Chilumula" userId="607cf3fa0c7e2317" providerId="LiveId" clId="{FEEC5A1D-66EA-416F-8AFF-911E55FB040C}" dt="2026-09-01T04:13:29.103" v="0" actId="1076"/>
          <ac:spMkLst>
            <pc:docMk/>
            <pc:sldMk cId="0" sldId="258"/>
            <ac:spMk id="6" creationId="{00000000-0000-0000-0000-000000000000}"/>
          </ac:spMkLst>
        </pc:spChg>
      </pc:sldChg>
      <pc:sldChg chg="modSp mod">
        <pc:chgData name="Madhulika Chilumula" userId="607cf3fa0c7e2317" providerId="LiveId" clId="{FEEC5A1D-66EA-416F-8AFF-911E55FB040C}" dt="2026-09-01T04:14:54.017" v="8" actId="27636"/>
        <pc:sldMkLst>
          <pc:docMk/>
          <pc:sldMk cId="0" sldId="259"/>
        </pc:sldMkLst>
        <pc:spChg chg="mod">
          <ac:chgData name="Madhulika Chilumula" userId="607cf3fa0c7e2317" providerId="LiveId" clId="{FEEC5A1D-66EA-416F-8AFF-911E55FB040C}" dt="2026-09-01T04:14:48.633" v="6" actId="2711"/>
          <ac:spMkLst>
            <pc:docMk/>
            <pc:sldMk cId="0" sldId="259"/>
            <ac:spMk id="211" creationId="{00000000-0000-0000-0000-000000000000}"/>
          </ac:spMkLst>
        </pc:spChg>
        <pc:spChg chg="mod">
          <ac:chgData name="Madhulika Chilumula" userId="607cf3fa0c7e2317" providerId="LiveId" clId="{FEEC5A1D-66EA-416F-8AFF-911E55FB040C}" dt="2026-09-01T04:14:54.017" v="8" actId="27636"/>
          <ac:spMkLst>
            <pc:docMk/>
            <pc:sldMk cId="0" sldId="259"/>
            <ac:spMk id="212" creationId="{00000000-0000-0000-0000-000000000000}"/>
          </ac:spMkLst>
        </pc:spChg>
      </pc:sldChg>
      <pc:sldChg chg="modSp mod">
        <pc:chgData name="Madhulika Chilumula" userId="607cf3fa0c7e2317" providerId="LiveId" clId="{FEEC5A1D-66EA-416F-8AFF-911E55FB040C}" dt="2026-09-01T04:15:50.565" v="16" actId="2711"/>
        <pc:sldMkLst>
          <pc:docMk/>
          <pc:sldMk cId="0" sldId="260"/>
        </pc:sldMkLst>
        <pc:spChg chg="mod">
          <ac:chgData name="Madhulika Chilumula" userId="607cf3fa0c7e2317" providerId="LiveId" clId="{FEEC5A1D-66EA-416F-8AFF-911E55FB040C}" dt="2026-09-01T04:15:50.565" v="16" actId="2711"/>
          <ac:spMkLst>
            <pc:docMk/>
            <pc:sldMk cId="0" sldId="260"/>
            <ac:spMk id="101" creationId="{00000000-0000-0000-0000-000000000000}"/>
          </ac:spMkLst>
        </pc:spChg>
      </pc:sldChg>
      <pc:sldChg chg="modSp mod">
        <pc:chgData name="Madhulika Chilumula" userId="607cf3fa0c7e2317" providerId="LiveId" clId="{FEEC5A1D-66EA-416F-8AFF-911E55FB040C}" dt="2026-09-01T04:13:44.169" v="1" actId="2711"/>
        <pc:sldMkLst>
          <pc:docMk/>
          <pc:sldMk cId="0" sldId="261"/>
        </pc:sldMkLst>
        <pc:spChg chg="mod">
          <ac:chgData name="Madhulika Chilumula" userId="607cf3fa0c7e2317" providerId="LiveId" clId="{FEEC5A1D-66EA-416F-8AFF-911E55FB040C}" dt="2026-09-01T04:13:44.169" v="1" actId="2711"/>
          <ac:spMkLst>
            <pc:docMk/>
            <pc:sldMk cId="0" sldId="261"/>
            <ac:spMk id="101" creationId="{00000000-0000-0000-0000-000000000000}"/>
          </ac:spMkLst>
        </pc:spChg>
      </pc:sldChg>
      <pc:sldChg chg="modSp mod">
        <pc:chgData name="Madhulika Chilumula" userId="607cf3fa0c7e2317" providerId="LiveId" clId="{FEEC5A1D-66EA-416F-8AFF-911E55FB040C}" dt="2026-09-01T04:16:06.824" v="18" actId="2711"/>
        <pc:sldMkLst>
          <pc:docMk/>
          <pc:sldMk cId="0" sldId="262"/>
        </pc:sldMkLst>
        <pc:spChg chg="mod">
          <ac:chgData name="Madhulika Chilumula" userId="607cf3fa0c7e2317" providerId="LiveId" clId="{FEEC5A1D-66EA-416F-8AFF-911E55FB040C}" dt="2026-09-01T04:16:01.484" v="17" actId="2711"/>
          <ac:spMkLst>
            <pc:docMk/>
            <pc:sldMk cId="0" sldId="262"/>
            <ac:spMk id="101" creationId="{00000000-0000-0000-0000-000000000000}"/>
          </ac:spMkLst>
        </pc:spChg>
        <pc:spChg chg="mod">
          <ac:chgData name="Madhulika Chilumula" userId="607cf3fa0c7e2317" providerId="LiveId" clId="{FEEC5A1D-66EA-416F-8AFF-911E55FB040C}" dt="2026-09-01T04:16:06.824" v="18" actId="2711"/>
          <ac:spMkLst>
            <pc:docMk/>
            <pc:sldMk cId="0" sldId="262"/>
            <ac:spMk id="102" creationId="{00000000-0000-0000-0000-000000000000}"/>
          </ac:spMkLst>
        </pc:spChg>
      </pc:sldChg>
      <pc:sldChg chg="modSp mod">
        <pc:chgData name="Madhulika Chilumula" userId="607cf3fa0c7e2317" providerId="LiveId" clId="{FEEC5A1D-66EA-416F-8AFF-911E55FB040C}" dt="2026-09-01T04:14:31.616" v="5" actId="2711"/>
        <pc:sldMkLst>
          <pc:docMk/>
          <pc:sldMk cId="0" sldId="265"/>
        </pc:sldMkLst>
        <pc:spChg chg="mod">
          <ac:chgData name="Madhulika Chilumula" userId="607cf3fa0c7e2317" providerId="LiveId" clId="{FEEC5A1D-66EA-416F-8AFF-911E55FB040C}" dt="2026-09-01T04:14:18.943" v="4" actId="2711"/>
          <ac:spMkLst>
            <pc:docMk/>
            <pc:sldMk cId="0" sldId="265"/>
            <ac:spMk id="101" creationId="{00000000-0000-0000-0000-000000000000}"/>
          </ac:spMkLst>
        </pc:spChg>
        <pc:spChg chg="mod">
          <ac:chgData name="Madhulika Chilumula" userId="607cf3fa0c7e2317" providerId="LiveId" clId="{FEEC5A1D-66EA-416F-8AFF-911E55FB040C}" dt="2026-09-01T04:14:31.616" v="5" actId="2711"/>
          <ac:spMkLst>
            <pc:docMk/>
            <pc:sldMk cId="0" sldId="265"/>
            <ac:spMk id="102" creationId="{00000000-0000-0000-0000-000000000000}"/>
          </ac:spMkLst>
        </pc:spChg>
      </pc:sldChg>
      <pc:sldChg chg="modSp mod">
        <pc:chgData name="Madhulika Chilumula" userId="607cf3fa0c7e2317" providerId="LiveId" clId="{FEEC5A1D-66EA-416F-8AFF-911E55FB040C}" dt="2026-09-01T04:15:42.079" v="15" actId="2711"/>
        <pc:sldMkLst>
          <pc:docMk/>
          <pc:sldMk cId="0" sldId="266"/>
        </pc:sldMkLst>
        <pc:spChg chg="mod">
          <ac:chgData name="Madhulika Chilumula" userId="607cf3fa0c7e2317" providerId="LiveId" clId="{FEEC5A1D-66EA-416F-8AFF-911E55FB040C}" dt="2026-09-01T04:15:36.626" v="14" actId="2711"/>
          <ac:spMkLst>
            <pc:docMk/>
            <pc:sldMk cId="0" sldId="266"/>
            <ac:spMk id="101" creationId="{00000000-0000-0000-0000-000000000000}"/>
          </ac:spMkLst>
        </pc:spChg>
        <pc:spChg chg="mod">
          <ac:chgData name="Madhulika Chilumula" userId="607cf3fa0c7e2317" providerId="LiveId" clId="{FEEC5A1D-66EA-416F-8AFF-911E55FB040C}" dt="2026-09-01T04:15:42.079" v="15" actId="2711"/>
          <ac:spMkLst>
            <pc:docMk/>
            <pc:sldMk cId="0" sldId="266"/>
            <ac:spMk id="102" creationId="{00000000-0000-0000-0000-000000000000}"/>
          </ac:spMkLst>
        </pc:spChg>
      </pc:sldChg>
      <pc:sldChg chg="modSp mod">
        <pc:chgData name="Madhulika Chilumula" userId="607cf3fa0c7e2317" providerId="LiveId" clId="{FEEC5A1D-66EA-416F-8AFF-911E55FB040C}" dt="2026-09-01T04:15:26.108" v="13" actId="1036"/>
        <pc:sldMkLst>
          <pc:docMk/>
          <pc:sldMk cId="0" sldId="267"/>
        </pc:sldMkLst>
        <pc:spChg chg="mod">
          <ac:chgData name="Madhulika Chilumula" userId="607cf3fa0c7e2317" providerId="LiveId" clId="{FEEC5A1D-66EA-416F-8AFF-911E55FB040C}" dt="2026-09-01T04:15:10.365" v="10" actId="2711"/>
          <ac:spMkLst>
            <pc:docMk/>
            <pc:sldMk cId="0" sldId="267"/>
            <ac:spMk id="101" creationId="{00000000-0000-0000-0000-000000000000}"/>
          </ac:spMkLst>
        </pc:spChg>
        <pc:spChg chg="mod">
          <ac:chgData name="Madhulika Chilumula" userId="607cf3fa0c7e2317" providerId="LiveId" clId="{FEEC5A1D-66EA-416F-8AFF-911E55FB040C}" dt="2026-09-01T04:15:26.108" v="13" actId="1036"/>
          <ac:spMkLst>
            <pc:docMk/>
            <pc:sldMk cId="0" sldId="267"/>
            <ac:spMk id="10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Resume–Job Matching &amp; Talent Marketplace Engine</a:t>
            </a: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US" dirty="0">
                <a:solidFill>
                  <a:srgbClr val="0070C0"/>
                </a:solidFill>
              </a:rPr>
              <a:t>M. Harshika – 2520090047</a:t>
            </a:r>
          </a:p>
          <a:p>
            <a:r>
              <a:rPr lang="en-US" dirty="0">
                <a:solidFill>
                  <a:srgbClr val="0070C0"/>
                </a:solidFill>
              </a:rPr>
              <a:t>Ch. Madhulika – 2520090056</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Mrs. Ch. Anitha, Asst. Professor, CS&amp;IT</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101" name="Body 101"/>
          <p:cNvSpPr txBox="1"/>
          <p:nvPr/>
        </p:nvSpPr>
        <p:spPr>
          <a:xfrm>
            <a:off x="3100000" y="1050000"/>
            <a:ext cx="8300000" cy="5400000"/>
          </a:xfrm>
          <a:prstGeom prst="rect">
            <a:avLst/>
          </a:prstGeom>
          <a:noFill/>
        </p:spPr>
        <p:txBody>
          <a:bodyPr wrap="square" anchor="t">
            <a:normAutofit/>
          </a:bodyPr>
          <a:lstStyle/>
          <a:p>
            <a:pPr>
              <a:lnSpc>
                <a:spcPct val="105000"/>
              </a:lnSpc>
              <a:spcAft>
                <a:spcPts val="1200"/>
              </a:spcAft>
              <a:buNone/>
            </a:pPr>
            <a:r>
              <a:rPr lang="en-US" sz="1900" b="0" i="0" dirty="0">
                <a:solidFill>
                  <a:srgbClr val="000000"/>
                </a:solidFill>
                <a:latin typeface="Calibri" panose="020F0502020204030204" pitchFamily="34" charset="0"/>
              </a:rPr>
              <a:t>The Resume–Job Matching &amp; Talent Marketplace Engine is a comprehensive platform designed to simulate real-world recruitment systems by integrating multiple functional modules. In today's dynamic job market, students often lack clarity on their eligibility, while recruiters face challenges in screening numerous resumes.</a:t>
            </a:r>
          </a:p>
          <a:p>
            <a:pPr>
              <a:lnSpc>
                <a:spcPct val="105000"/>
              </a:lnSpc>
              <a:spcAft>
                <a:spcPts val="1200"/>
              </a:spcAft>
              <a:buNone/>
            </a:pPr>
            <a:r>
              <a:rPr lang="en-US" sz="1900" b="0" i="0" dirty="0">
                <a:solidFill>
                  <a:srgbClr val="000000"/>
                </a:solidFill>
                <a:latin typeface="Calibri" panose="020F0502020204030204" pitchFamily="34" charset="0"/>
              </a:rPr>
              <a:t>The system includes a student module for profile creation and resume upload, where key information such as skills, education, and projects is extracted, and a recruiter module for posting job requirements. The core component is the matching engine, which uses data structures and algorithms like hashing, string matching, and priority queues to compare skills and rank candidates based on compatibility scores.</a:t>
            </a:r>
          </a:p>
          <a:p>
            <a:pPr>
              <a:lnSpc>
                <a:spcPct val="105000"/>
              </a:lnSpc>
              <a:spcAft>
                <a:spcPts val="0"/>
              </a:spcAft>
              <a:buNone/>
            </a:pPr>
            <a:r>
              <a:rPr lang="en-US" sz="1900" b="0" i="0" dirty="0">
                <a:solidFill>
                  <a:srgbClr val="000000"/>
                </a:solidFill>
                <a:latin typeface="Calibri" panose="020F0502020204030204" pitchFamily="34" charset="0"/>
              </a:rPr>
              <a:t>Additional features such as skill gap analysis, career roadmap generation, and mock interview preparation enhance its practical value — helping students improve employability while enabling efficient and accurate candidate selection for recruiters.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 1"/>
          <p:cNvSpPr/>
          <p:nvPr/>
        </p:nvSpPr>
        <p:spPr>
          <a:xfrm>
            <a:off x="3209290" y="1358265"/>
            <a:ext cx="3534410" cy="936625"/>
          </a:xfrm>
          <a:prstGeom prst="rect">
            <a:avLst/>
          </a:prstGeom>
          <a:noFill/>
        </p:spPr>
        <p:txBody>
          <a:bodyPr wrap="square" lIns="0" tIns="0" rIns="0" bIns="0" rtlCol="0" anchor="t">
            <a:noAutofit/>
          </a:bodyPr>
          <a:lstStyle/>
          <a:p>
            <a:pPr marL="0" indent="0" algn="l">
              <a:lnSpc>
                <a:spcPct val="127000"/>
              </a:lnSpc>
              <a:buNone/>
            </a:pPr>
            <a:r>
              <a:rPr lang="en-US" dirty="0">
                <a:solidFill>
                  <a:srgbClr val="464646"/>
                </a:solidFill>
                <a:latin typeface="Times New Roman" panose="02020603050405020304" pitchFamily="18" charset="0"/>
                <a:ea typeface="Inter Medium" panose="02000503000000020004" pitchFamily="34" charset="-122"/>
                <a:cs typeface="Times New Roman" panose="02020603050405020304" pitchFamily="18" charset="0"/>
              </a:rPr>
              <a:t>Large job marketplaces create two parallel challenges:</a:t>
            </a:r>
          </a:p>
        </p:txBody>
      </p:sp>
      <p:sp>
        <p:nvSpPr>
          <p:cNvPr id="5" name="Text 2"/>
          <p:cNvSpPr/>
          <p:nvPr/>
        </p:nvSpPr>
        <p:spPr>
          <a:xfrm>
            <a:off x="3209290" y="2289175"/>
            <a:ext cx="3534410" cy="1615440"/>
          </a:xfrm>
          <a:prstGeom prst="rect">
            <a:avLst/>
          </a:prstGeom>
          <a:noFill/>
        </p:spPr>
        <p:txBody>
          <a:bodyPr wrap="square" lIns="0" tIns="68047" rIns="0" bIns="0" rtlCol="0" anchor="t">
            <a:noAutofit/>
          </a:bodyPr>
          <a:lstStyle/>
          <a:p>
            <a:pPr marL="264160" indent="-264160" algn="l">
              <a:lnSpc>
                <a:spcPct val="127000"/>
              </a:lnSpc>
              <a:buSzPct val="100000"/>
              <a:buChar char="•"/>
            </a:pPr>
            <a:r>
              <a:rPr lang="en-US" dirty="0">
                <a:solidFill>
                  <a:srgbClr val="464646"/>
                </a:solidFill>
                <a:latin typeface="Times New Roman" panose="02020603050405020304" pitchFamily="18" charset="0"/>
                <a:ea typeface="Inter Medium" panose="02000503000000020004" pitchFamily="34" charset="-122"/>
                <a:cs typeface="Times New Roman" panose="02020603050405020304" pitchFamily="18" charset="0"/>
              </a:rPr>
              <a:t>Candidates struggle to find relevant postings among many noisy results.</a:t>
            </a:r>
            <a:endParaRPr lang="en-US" dirty="0">
              <a:latin typeface="Times New Roman" panose="02020603050405020304" pitchFamily="18" charset="0"/>
              <a:cs typeface="Times New Roman" panose="02020603050405020304" pitchFamily="18" charset="0"/>
            </a:endParaRPr>
          </a:p>
          <a:p>
            <a:pPr marL="264160" indent="-264160" algn="l">
              <a:lnSpc>
                <a:spcPct val="127000"/>
              </a:lnSpc>
              <a:buSzPct val="100000"/>
              <a:buChar char="•"/>
            </a:pPr>
            <a:r>
              <a:rPr lang="en-US" dirty="0">
                <a:solidFill>
                  <a:srgbClr val="464646"/>
                </a:solidFill>
                <a:latin typeface="Times New Roman" panose="02020603050405020304" pitchFamily="18" charset="0"/>
                <a:ea typeface="Inter Medium" panose="02000503000000020004" pitchFamily="34" charset="-122"/>
                <a:cs typeface="Times New Roman" panose="02020603050405020304" pitchFamily="18" charset="0"/>
              </a:rPr>
              <a:t>Recruiters expend substantial time screening resumes with low precision.</a:t>
            </a:r>
          </a:p>
        </p:txBody>
      </p:sp>
      <p:sp>
        <p:nvSpPr>
          <p:cNvPr id="6" name="Text 3"/>
          <p:cNvSpPr/>
          <p:nvPr/>
        </p:nvSpPr>
        <p:spPr>
          <a:xfrm>
            <a:off x="3293266" y="4493532"/>
            <a:ext cx="3534410" cy="1648460"/>
          </a:xfrm>
          <a:prstGeom prst="rect">
            <a:avLst/>
          </a:prstGeom>
          <a:noFill/>
        </p:spPr>
        <p:txBody>
          <a:bodyPr wrap="square" lIns="0" tIns="0" rIns="0" bIns="0" rtlCol="0" anchor="t">
            <a:noAutofit/>
          </a:bodyPr>
          <a:lstStyle/>
          <a:p>
            <a:pPr marL="0" indent="0" algn="l">
              <a:lnSpc>
                <a:spcPct val="127000"/>
              </a:lnSpc>
              <a:buNone/>
            </a:pPr>
            <a:r>
              <a:rPr lang="en-US" dirty="0">
                <a:solidFill>
                  <a:srgbClr val="464646"/>
                </a:solidFill>
                <a:latin typeface="Times New Roman" panose="02020603050405020304" pitchFamily="18" charset="0"/>
                <a:ea typeface="Inter Medium" panose="02000503000000020004" pitchFamily="34" charset="-122"/>
                <a:cs typeface="Times New Roman" panose="02020603050405020304" pitchFamily="18" charset="0"/>
              </a:rPr>
              <a:t>This project applies data-structure-driven organization plus search and ranking algorithms to improve precision and speed of recommendations.</a:t>
            </a:r>
          </a:p>
        </p:txBody>
      </p:sp>
      <p:pic>
        <p:nvPicPr>
          <p:cNvPr id="7" name="Image 0" descr="preencoded.png"/>
          <p:cNvPicPr>
            <a:picLocks noChangeAspect="1"/>
          </p:cNvPicPr>
          <p:nvPr/>
        </p:nvPicPr>
        <p:blipFill>
          <a:blip r:embed="rId2"/>
          <a:stretch>
            <a:fillRect/>
          </a:stretch>
        </p:blipFill>
        <p:spPr>
          <a:xfrm>
            <a:off x="7201034" y="1223863"/>
            <a:ext cx="4656914" cy="46570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101" name="Body 101"/>
          <p:cNvSpPr txBox="1"/>
          <p:nvPr/>
        </p:nvSpPr>
        <p:spPr>
          <a:xfrm>
            <a:off x="2926645" y="978245"/>
            <a:ext cx="8300000" cy="5200000"/>
          </a:xfrm>
          <a:prstGeom prst="rect">
            <a:avLst/>
          </a:prstGeom>
          <a:noFill/>
        </p:spPr>
        <p:txBody>
          <a:bodyPr wrap="square" anchor="t">
            <a:normAutofit/>
          </a:bodyPr>
          <a:lstStyle/>
          <a:p>
            <a:pPr marL="285750" indent="-285750">
              <a:lnSpc>
                <a:spcPct val="105000"/>
              </a:lnSpc>
              <a:spcAft>
                <a:spcPts val="650"/>
              </a:spcAft>
              <a:buFont typeface="Arial" panose="020B0604020202020204" pitchFamily="34" charset="0"/>
              <a:buChar char="•"/>
            </a:pPr>
            <a:r>
              <a:rPr lang="en-US" sz="2000" b="1" i="0" dirty="0">
                <a:solidFill>
                  <a:srgbClr val="C00000"/>
                </a:solidFill>
                <a:latin typeface="Times New Roman" panose="02020603050405020304" pitchFamily="18" charset="0"/>
                <a:cs typeface="Times New Roman" panose="02020603050405020304" pitchFamily="18" charset="0"/>
              </a:rPr>
              <a:t>Traditional Portals: </a:t>
            </a:r>
            <a:r>
              <a:rPr lang="en-US" sz="2000" b="0" i="0" dirty="0">
                <a:solidFill>
                  <a:srgbClr val="000000"/>
                </a:solidFill>
                <a:latin typeface="Times New Roman" panose="02020603050405020304" pitchFamily="18" charset="0"/>
                <a:cs typeface="Times New Roman" panose="02020603050405020304" pitchFamily="18" charset="0"/>
              </a:rPr>
              <a:t>Large listings but high irrelevance; keyword matching yields many false positives.</a:t>
            </a:r>
          </a:p>
          <a:p>
            <a:pPr marL="285750" indent="-285750">
              <a:lnSpc>
                <a:spcPct val="105000"/>
              </a:lnSpc>
              <a:spcAft>
                <a:spcPts val="650"/>
              </a:spcAft>
              <a:buFont typeface="Arial" panose="020B0604020202020204" pitchFamily="34" charset="0"/>
              <a:buChar char="•"/>
            </a:pPr>
            <a:r>
              <a:rPr lang="en-US" sz="2000" b="1" i="0" dirty="0">
                <a:solidFill>
                  <a:srgbClr val="C00000"/>
                </a:solidFill>
                <a:latin typeface="Times New Roman" panose="02020603050405020304" pitchFamily="18" charset="0"/>
                <a:cs typeface="Times New Roman" panose="02020603050405020304" pitchFamily="18" charset="0"/>
              </a:rPr>
              <a:t>Keyword Matching: </a:t>
            </a:r>
            <a:r>
              <a:rPr lang="en-US" sz="2000" b="0" i="0" dirty="0">
                <a:solidFill>
                  <a:srgbClr val="000000"/>
                </a:solidFill>
                <a:latin typeface="Times New Roman" panose="02020603050405020304" pitchFamily="18" charset="0"/>
                <a:cs typeface="Times New Roman" panose="02020603050405020304" pitchFamily="18" charset="0"/>
              </a:rPr>
              <a:t>Fast and simple, but lacks semantic context and weighted importance of skills.</a:t>
            </a:r>
          </a:p>
          <a:p>
            <a:pPr marL="285750" indent="-285750">
              <a:lnSpc>
                <a:spcPct val="105000"/>
              </a:lnSpc>
              <a:spcAft>
                <a:spcPts val="650"/>
              </a:spcAft>
              <a:buFont typeface="Arial" panose="020B0604020202020204" pitchFamily="34" charset="0"/>
              <a:buChar char="•"/>
            </a:pPr>
            <a:r>
              <a:rPr lang="en-US" sz="2000" b="1" i="0" dirty="0">
                <a:solidFill>
                  <a:srgbClr val="C00000"/>
                </a:solidFill>
                <a:latin typeface="Times New Roman" panose="02020603050405020304" pitchFamily="18" charset="0"/>
                <a:cs typeface="Times New Roman" panose="02020603050405020304" pitchFamily="18" charset="0"/>
              </a:rPr>
              <a:t>Recommendation Platforms: </a:t>
            </a:r>
            <a:r>
              <a:rPr lang="en-US" sz="2000" b="0" i="0" dirty="0">
                <a:solidFill>
                  <a:srgbClr val="000000"/>
                </a:solidFill>
                <a:latin typeface="Times New Roman" panose="02020603050405020304" pitchFamily="18" charset="0"/>
                <a:cs typeface="Times New Roman" panose="02020603050405020304" pitchFamily="18" charset="0"/>
              </a:rPr>
              <a:t>Personalization works at scale but often needs large behavioral datasets and complex tuning.</a:t>
            </a:r>
          </a:p>
          <a:p>
            <a:pPr marL="285750" indent="-285750">
              <a:lnSpc>
                <a:spcPct val="105000"/>
              </a:lnSpc>
              <a:spcAft>
                <a:spcPts val="650"/>
              </a:spcAft>
              <a:buFont typeface="Arial" panose="020B0604020202020204" pitchFamily="34" charset="0"/>
              <a:buChar char="•"/>
            </a:pPr>
            <a:r>
              <a:rPr lang="en-US" sz="2000" b="1" i="0" dirty="0">
                <a:solidFill>
                  <a:srgbClr val="C00000"/>
                </a:solidFill>
                <a:latin typeface="Times New Roman" panose="02020603050405020304" pitchFamily="18" charset="0"/>
                <a:cs typeface="Times New Roman" panose="02020603050405020304" pitchFamily="18" charset="0"/>
              </a:rPr>
              <a:t>Proposed DSA Approach: </a:t>
            </a:r>
            <a:r>
              <a:rPr lang="en-US" sz="2000" b="0" i="0" dirty="0">
                <a:solidFill>
                  <a:srgbClr val="000000"/>
                </a:solidFill>
                <a:latin typeface="Times New Roman" panose="02020603050405020304" pitchFamily="18" charset="0"/>
                <a:cs typeface="Times New Roman" panose="02020603050405020304" pitchFamily="18" charset="0"/>
              </a:rPr>
              <a:t>Combines structured storage, algorithmic search, and ranking heuristics to be efficient, interpretable, and extendable with AI.</a:t>
            </a:r>
          </a:p>
          <a:p>
            <a:pPr>
              <a:lnSpc>
                <a:spcPct val="105000"/>
              </a:lnSpc>
              <a:spcAft>
                <a:spcPts val="0"/>
              </a:spcAft>
              <a:buNone/>
            </a:pPr>
            <a:r>
              <a:rPr lang="en-US" sz="2000" b="1" i="0" dirty="0">
                <a:solidFill>
                  <a:srgbClr val="C00000"/>
                </a:solidFill>
                <a:latin typeface="Times New Roman" panose="02020603050405020304" pitchFamily="18" charset="0"/>
                <a:cs typeface="Times New Roman" panose="02020603050405020304" pitchFamily="18" charset="0"/>
              </a:rPr>
              <a:t>Research gap: an efficient, explainable pipeline combining organization, search, matching, and ranking for mid-sized datasets without heavy ML dependencies.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101" name="Body 101"/>
          <p:cNvSpPr txBox="1"/>
          <p:nvPr/>
        </p:nvSpPr>
        <p:spPr>
          <a:xfrm>
            <a:off x="3100000" y="1050000"/>
            <a:ext cx="4000000" cy="5400000"/>
          </a:xfrm>
          <a:prstGeom prst="rect">
            <a:avLst/>
          </a:prstGeom>
          <a:noFill/>
        </p:spPr>
        <p:txBody>
          <a:bodyPr wrap="square" anchor="t">
            <a:normAutofit/>
          </a:bodyPr>
          <a:lstStyle/>
          <a:p>
            <a:pPr>
              <a:lnSpc>
                <a:spcPct val="105000"/>
              </a:lnSpc>
              <a:spcAft>
                <a:spcPts val="500"/>
              </a:spcAft>
              <a:buNone/>
            </a:pPr>
            <a:r>
              <a:rPr lang="en-US" sz="2400" b="1" i="0" dirty="0">
                <a:solidFill>
                  <a:srgbClr val="C00000"/>
                </a:solidFill>
                <a:latin typeface="Times New Roman" panose="02020603050405020304" pitchFamily="18" charset="0"/>
                <a:cs typeface="Times New Roman" panose="02020603050405020304" pitchFamily="18" charset="0"/>
              </a:rPr>
              <a:t>Problem Statement</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Efficiently store candidate and job records for quick access.</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Search and retrieve relevant jobs for a candidate using algorithmic techniques.</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Compute interpretable matching scores comparing skills, qualifications, and experience.</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Sort and rank results so the most suitable opportunities surface first.</a:t>
            </a:r>
          </a:p>
          <a:p>
            <a:pPr>
              <a:lnSpc>
                <a:spcPct val="105000"/>
              </a:lnSpc>
              <a:spcAft>
                <a:spcPts val="0"/>
              </a:spcAft>
              <a:buNone/>
            </a:pPr>
            <a:r>
              <a:rPr lang="en-US" sz="1600" b="0" i="1" dirty="0">
                <a:solidFill>
                  <a:srgbClr val="000000"/>
                </a:solidFill>
                <a:latin typeface="Times New Roman" panose="02020603050405020304" pitchFamily="18" charset="0"/>
                <a:cs typeface="Times New Roman" panose="02020603050405020304" pitchFamily="18" charset="0"/>
              </a:rPr>
              <a:t>Challenges addressed: scale of listings, manual screening effort, irrelevant recommendations, and ranking by suitability as data grows.</a:t>
            </a:r>
          </a:p>
        </p:txBody>
      </p:sp>
      <p:sp>
        <p:nvSpPr>
          <p:cNvPr id="102" name="Body 102"/>
          <p:cNvSpPr txBox="1"/>
          <p:nvPr/>
        </p:nvSpPr>
        <p:spPr>
          <a:xfrm>
            <a:off x="7400000" y="1050000"/>
            <a:ext cx="4000000" cy="5400000"/>
          </a:xfrm>
          <a:prstGeom prst="rect">
            <a:avLst/>
          </a:prstGeom>
          <a:noFill/>
        </p:spPr>
        <p:txBody>
          <a:bodyPr wrap="square" anchor="t">
            <a:normAutofit/>
          </a:bodyPr>
          <a:lstStyle/>
          <a:p>
            <a:pPr>
              <a:lnSpc>
                <a:spcPct val="105000"/>
              </a:lnSpc>
              <a:spcAft>
                <a:spcPts val="500"/>
              </a:spcAft>
              <a:buNone/>
            </a:pPr>
            <a:r>
              <a:rPr lang="en-US" sz="2400" b="1" i="0" dirty="0">
                <a:solidFill>
                  <a:srgbClr val="C00000"/>
                </a:solidFill>
                <a:latin typeface="Times New Roman" panose="02020603050405020304" pitchFamily="18" charset="0"/>
                <a:cs typeface="Times New Roman" panose="02020603050405020304" pitchFamily="18" charset="0"/>
              </a:rPr>
              <a:t>Objectives</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Design compact, indexable representations for resumes and job descriptions.</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Implement search routines that leverage hashing and sorted indexes.</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Define a clear skill-based match score with experience/qualification weights.</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Apply efficient sorting and top-k retrieval for ranked recommendations.</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Demonstrate practical DSA usage with examples and complexity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200" name="FlowBox 200"/>
          <p:cNvSpPr/>
          <p:nvPr/>
        </p:nvSpPr>
        <p:spPr>
          <a:xfrm>
            <a:off x="92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400" b="1" dirty="0">
                <a:solidFill>
                  <a:srgbClr val="FFFFFF"/>
                </a:solidFill>
                <a:latin typeface="Calibri" panose="020F0502020204030204" pitchFamily="34" charset="0"/>
              </a:rPr>
              <a:t>Extract</a:t>
            </a:r>
          </a:p>
        </p:txBody>
      </p:sp>
      <p:sp>
        <p:nvSpPr>
          <p:cNvPr id="201" name="Arrow 201"/>
          <p:cNvSpPr/>
          <p:nvPr/>
        </p:nvSpPr>
        <p:spPr>
          <a:xfrm>
            <a:off x="2571000" y="2390000"/>
            <a:ext cx="90000" cy="120000"/>
          </a:xfrm>
          <a:prstGeom prst="rightArrow">
            <a:avLst/>
          </a:prstGeom>
          <a:solidFill>
            <a:srgbClr val="C00000"/>
          </a:solidFill>
          <a:ln>
            <a:noFill/>
          </a:ln>
        </p:spPr>
        <p:txBody>
          <a:bodyPr/>
          <a:lstStyle/>
          <a:p>
            <a:endParaRPr lang="en-US"/>
          </a:p>
        </p:txBody>
      </p:sp>
      <p:sp>
        <p:nvSpPr>
          <p:cNvPr id="202" name="FlowBox 202"/>
          <p:cNvSpPr/>
          <p:nvPr/>
        </p:nvSpPr>
        <p:spPr>
          <a:xfrm>
            <a:off x="266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400" b="1" dirty="0">
                <a:solidFill>
                  <a:srgbClr val="FFFFFF"/>
                </a:solidFill>
                <a:latin typeface="Calibri" panose="020F0502020204030204" pitchFamily="34" charset="0"/>
              </a:rPr>
              <a:t>Structure</a:t>
            </a:r>
          </a:p>
        </p:txBody>
      </p:sp>
      <p:sp>
        <p:nvSpPr>
          <p:cNvPr id="203" name="Arrow 203"/>
          <p:cNvSpPr/>
          <p:nvPr/>
        </p:nvSpPr>
        <p:spPr>
          <a:xfrm>
            <a:off x="4311000" y="2390000"/>
            <a:ext cx="90000" cy="120000"/>
          </a:xfrm>
          <a:prstGeom prst="rightArrow">
            <a:avLst/>
          </a:prstGeom>
          <a:solidFill>
            <a:srgbClr val="C00000"/>
          </a:solidFill>
          <a:ln>
            <a:noFill/>
          </a:ln>
        </p:spPr>
        <p:txBody>
          <a:bodyPr/>
          <a:lstStyle/>
          <a:p>
            <a:endParaRPr lang="en-US"/>
          </a:p>
        </p:txBody>
      </p:sp>
      <p:sp>
        <p:nvSpPr>
          <p:cNvPr id="204" name="FlowBox 204"/>
          <p:cNvSpPr/>
          <p:nvPr/>
        </p:nvSpPr>
        <p:spPr>
          <a:xfrm>
            <a:off x="440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400" b="1" dirty="0">
                <a:solidFill>
                  <a:srgbClr val="FFFFFF"/>
                </a:solidFill>
                <a:latin typeface="Calibri" panose="020F0502020204030204" pitchFamily="34" charset="0"/>
              </a:rPr>
              <a:t>Index</a:t>
            </a:r>
          </a:p>
        </p:txBody>
      </p:sp>
      <p:sp>
        <p:nvSpPr>
          <p:cNvPr id="205" name="Arrow 205"/>
          <p:cNvSpPr/>
          <p:nvPr/>
        </p:nvSpPr>
        <p:spPr>
          <a:xfrm>
            <a:off x="6051000" y="2390000"/>
            <a:ext cx="90000" cy="120000"/>
          </a:xfrm>
          <a:prstGeom prst="rightArrow">
            <a:avLst/>
          </a:prstGeom>
          <a:solidFill>
            <a:srgbClr val="C00000"/>
          </a:solidFill>
          <a:ln>
            <a:noFill/>
          </a:ln>
        </p:spPr>
        <p:txBody>
          <a:bodyPr/>
          <a:lstStyle/>
          <a:p>
            <a:endParaRPr lang="en-US"/>
          </a:p>
        </p:txBody>
      </p:sp>
      <p:sp>
        <p:nvSpPr>
          <p:cNvPr id="206" name="FlowBox 206"/>
          <p:cNvSpPr/>
          <p:nvPr/>
        </p:nvSpPr>
        <p:spPr>
          <a:xfrm>
            <a:off x="614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400" b="1" dirty="0">
                <a:solidFill>
                  <a:srgbClr val="FFFFFF"/>
                </a:solidFill>
                <a:latin typeface="Calibri" panose="020F0502020204030204" pitchFamily="34" charset="0"/>
              </a:rPr>
              <a:t>Search</a:t>
            </a:r>
          </a:p>
        </p:txBody>
      </p:sp>
      <p:sp>
        <p:nvSpPr>
          <p:cNvPr id="207" name="Arrow 207"/>
          <p:cNvSpPr/>
          <p:nvPr/>
        </p:nvSpPr>
        <p:spPr>
          <a:xfrm>
            <a:off x="7791000" y="2390000"/>
            <a:ext cx="90000" cy="120000"/>
          </a:xfrm>
          <a:prstGeom prst="rightArrow">
            <a:avLst/>
          </a:prstGeom>
          <a:solidFill>
            <a:srgbClr val="C00000"/>
          </a:solidFill>
          <a:ln>
            <a:noFill/>
          </a:ln>
        </p:spPr>
        <p:txBody>
          <a:bodyPr/>
          <a:lstStyle/>
          <a:p>
            <a:endParaRPr lang="en-US"/>
          </a:p>
        </p:txBody>
      </p:sp>
      <p:sp>
        <p:nvSpPr>
          <p:cNvPr id="208" name="FlowBox 208"/>
          <p:cNvSpPr/>
          <p:nvPr/>
        </p:nvSpPr>
        <p:spPr>
          <a:xfrm>
            <a:off x="788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400" b="1" dirty="0">
                <a:solidFill>
                  <a:srgbClr val="FFFFFF"/>
                </a:solidFill>
                <a:latin typeface="Calibri" panose="020F0502020204030204" pitchFamily="34" charset="0"/>
              </a:rPr>
              <a:t>Compare</a:t>
            </a:r>
          </a:p>
        </p:txBody>
      </p:sp>
      <p:sp>
        <p:nvSpPr>
          <p:cNvPr id="209" name="Arrow 209"/>
          <p:cNvSpPr/>
          <p:nvPr/>
        </p:nvSpPr>
        <p:spPr>
          <a:xfrm>
            <a:off x="9531000" y="2390000"/>
            <a:ext cx="90000" cy="120000"/>
          </a:xfrm>
          <a:prstGeom prst="rightArrow">
            <a:avLst/>
          </a:prstGeom>
          <a:solidFill>
            <a:srgbClr val="C00000"/>
          </a:solidFill>
          <a:ln>
            <a:noFill/>
          </a:ln>
        </p:spPr>
        <p:txBody>
          <a:bodyPr/>
          <a:lstStyle/>
          <a:p>
            <a:endParaRPr lang="en-US"/>
          </a:p>
        </p:txBody>
      </p:sp>
      <p:sp>
        <p:nvSpPr>
          <p:cNvPr id="210" name="FlowBox 210"/>
          <p:cNvSpPr/>
          <p:nvPr/>
        </p:nvSpPr>
        <p:spPr>
          <a:xfrm>
            <a:off x="962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400" b="1" dirty="0">
                <a:solidFill>
                  <a:srgbClr val="FFFFFF"/>
                </a:solidFill>
                <a:latin typeface="Calibri" panose="020F0502020204030204" pitchFamily="34" charset="0"/>
              </a:rPr>
              <a:t>Recommend</a:t>
            </a:r>
          </a:p>
        </p:txBody>
      </p:sp>
      <p:sp>
        <p:nvSpPr>
          <p:cNvPr id="211" name="Body 211"/>
          <p:cNvSpPr txBox="1"/>
          <p:nvPr/>
        </p:nvSpPr>
        <p:spPr>
          <a:xfrm>
            <a:off x="3100000" y="3400000"/>
            <a:ext cx="8300000" cy="1600000"/>
          </a:xfrm>
          <a:prstGeom prst="rect">
            <a:avLst/>
          </a:prstGeom>
          <a:noFill/>
        </p:spPr>
        <p:txBody>
          <a:bodyPr wrap="square" anchor="t">
            <a:normAutofit/>
          </a:bodyPr>
          <a:lstStyle/>
          <a:p>
            <a:pPr>
              <a:lnSpc>
                <a:spcPct val="105000"/>
              </a:lnSpc>
              <a:spcAft>
                <a:spcPts val="0"/>
              </a:spcAft>
              <a:buNone/>
            </a:pPr>
            <a:r>
              <a:rPr lang="en-US" sz="1900" b="0" i="0" dirty="0">
                <a:solidFill>
                  <a:srgbClr val="000000"/>
                </a:solidFill>
                <a:latin typeface="Times New Roman" panose="02020603050405020304" pitchFamily="18" charset="0"/>
                <a:cs typeface="Times New Roman" panose="02020603050405020304" pitchFamily="18" charset="0"/>
              </a:rPr>
              <a:t>The pipeline transforms raw resumes into structured records, indexes them for fast lookup, computes a normalized match score, and returns the top-k ranked job recommendations.</a:t>
            </a:r>
          </a:p>
        </p:txBody>
      </p:sp>
      <p:sp>
        <p:nvSpPr>
          <p:cNvPr id="212" name="Body 212"/>
          <p:cNvSpPr txBox="1"/>
          <p:nvPr/>
        </p:nvSpPr>
        <p:spPr>
          <a:xfrm>
            <a:off x="3100000" y="5150000"/>
            <a:ext cx="8300000" cy="1200000"/>
          </a:xfrm>
          <a:prstGeom prst="rect">
            <a:avLst/>
          </a:prstGeom>
          <a:noFill/>
        </p:spPr>
        <p:txBody>
          <a:bodyPr wrap="square" anchor="t">
            <a:normAutofit lnSpcReduction="10000"/>
          </a:bodyPr>
          <a:lstStyle/>
          <a:p>
            <a:pPr>
              <a:lnSpc>
                <a:spcPct val="105000"/>
              </a:lnSpc>
              <a:spcAft>
                <a:spcPts val="300"/>
              </a:spcAft>
              <a:buNone/>
            </a:pPr>
            <a:r>
              <a:rPr lang="en-US" sz="1700" b="0" i="0" dirty="0">
                <a:solidFill>
                  <a:srgbClr val="000000"/>
                </a:solidFill>
                <a:latin typeface="Times New Roman" panose="02020603050405020304" pitchFamily="18" charset="0"/>
                <a:cs typeface="Times New Roman" panose="02020603050405020304" pitchFamily="18" charset="0"/>
              </a:rPr>
              <a:t>Example: Candidate skills = {Java, SQL, HTML, DSA}; Job requires = {Java, SQL, DSA, Python}</a:t>
            </a:r>
          </a:p>
          <a:p>
            <a:pPr>
              <a:lnSpc>
                <a:spcPct val="105000"/>
              </a:lnSpc>
              <a:spcAft>
                <a:spcPts val="0"/>
              </a:spcAft>
              <a:buNone/>
            </a:pPr>
            <a:r>
              <a:rPr lang="en-US" sz="1700" b="1" i="0" dirty="0">
                <a:solidFill>
                  <a:srgbClr val="C00000"/>
                </a:solidFill>
                <a:latin typeface="Times New Roman" panose="02020603050405020304" pitchFamily="18" charset="0"/>
                <a:cs typeface="Times New Roman" panose="02020603050405020304" pitchFamily="18" charset="0"/>
              </a:rPr>
              <a:t>Matches = 3/4 → Match Score = 75% (extendable with weights for experience and qualification).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101" name="Body 101"/>
          <p:cNvSpPr txBox="1"/>
          <p:nvPr/>
        </p:nvSpPr>
        <p:spPr>
          <a:xfrm>
            <a:off x="3100000" y="1050000"/>
            <a:ext cx="4000000" cy="5500000"/>
          </a:xfrm>
          <a:prstGeom prst="rect">
            <a:avLst/>
          </a:prstGeom>
          <a:noFill/>
        </p:spPr>
        <p:txBody>
          <a:bodyPr wrap="square" anchor="t">
            <a:noAutofit/>
          </a:bodyPr>
          <a:lstStyle/>
          <a:p>
            <a:pPr>
              <a:lnSpc>
                <a:spcPct val="105000"/>
              </a:lnSpc>
              <a:spcAft>
                <a:spcPts val="500"/>
              </a:spcAft>
              <a:buNone/>
            </a:pPr>
            <a:r>
              <a:rPr lang="en-US" sz="2000" b="1" i="0" dirty="0">
                <a:solidFill>
                  <a:srgbClr val="C00000"/>
                </a:solidFill>
                <a:latin typeface="Times New Roman" panose="02020603050405020304" pitchFamily="18" charset="0"/>
                <a:cs typeface="Times New Roman" panose="02020603050405020304" pitchFamily="18" charset="0"/>
              </a:rPr>
              <a:t>Data Structures &amp; Algorithms Used</a:t>
            </a:r>
          </a:p>
          <a:p>
            <a:pPr marL="285750" indent="-285750">
              <a:lnSpc>
                <a:spcPct val="105000"/>
              </a:lnSpc>
              <a:spcAft>
                <a:spcPts val="350"/>
              </a:spcAft>
              <a:buFont typeface="Arial" panose="020B0604020202020204" pitchFamily="34" charset="0"/>
              <a:buChar char="•"/>
            </a:pPr>
            <a:r>
              <a:rPr lang="en-US" sz="1600" b="1" i="0" dirty="0">
                <a:solidFill>
                  <a:srgbClr val="C00000"/>
                </a:solidFill>
                <a:latin typeface="Times New Roman" panose="02020603050405020304" pitchFamily="18" charset="0"/>
                <a:cs typeface="Times New Roman" panose="02020603050405020304" pitchFamily="18" charset="0"/>
              </a:rPr>
              <a:t>HashMap: </a:t>
            </a:r>
            <a:r>
              <a:rPr lang="en-US" sz="1600" b="0" i="0" dirty="0">
                <a:solidFill>
                  <a:srgbClr val="000000"/>
                </a:solidFill>
                <a:latin typeface="Times New Roman" panose="02020603050405020304" pitchFamily="18" charset="0"/>
                <a:cs typeface="Times New Roman" panose="02020603050405020304" pitchFamily="18" charset="0"/>
              </a:rPr>
              <a:t>O(1) average lookup for skill presence/frequency; used for candidate skill vectors and inverted indexes.</a:t>
            </a:r>
          </a:p>
          <a:p>
            <a:pPr marL="285750" indent="-285750">
              <a:lnSpc>
                <a:spcPct val="105000"/>
              </a:lnSpc>
              <a:spcAft>
                <a:spcPts val="350"/>
              </a:spcAft>
              <a:buFont typeface="Arial" panose="020B0604020202020204" pitchFamily="34" charset="0"/>
              <a:buChar char="•"/>
            </a:pPr>
            <a:r>
              <a:rPr lang="en-US" sz="1600" b="1" i="0" dirty="0">
                <a:solidFill>
                  <a:srgbClr val="C00000"/>
                </a:solidFill>
                <a:latin typeface="Times New Roman" panose="02020603050405020304" pitchFamily="18" charset="0"/>
                <a:cs typeface="Times New Roman" panose="02020603050405020304" pitchFamily="18" charset="0"/>
              </a:rPr>
              <a:t>Array / ArrayList: </a:t>
            </a:r>
            <a:r>
              <a:rPr lang="en-US" sz="1600" b="0" i="0" dirty="0">
                <a:solidFill>
                  <a:srgbClr val="000000"/>
                </a:solidFill>
                <a:latin typeface="Times New Roman" panose="02020603050405020304" pitchFamily="18" charset="0"/>
                <a:cs typeface="Times New Roman" panose="02020603050405020304" pitchFamily="18" charset="0"/>
              </a:rPr>
              <a:t>Stores ordered records; used with binary search after sorting by key attributes.</a:t>
            </a:r>
          </a:p>
          <a:p>
            <a:pPr marL="285750" indent="-285750">
              <a:lnSpc>
                <a:spcPct val="105000"/>
              </a:lnSpc>
              <a:spcAft>
                <a:spcPts val="350"/>
              </a:spcAft>
              <a:buFont typeface="Arial" panose="020B0604020202020204" pitchFamily="34" charset="0"/>
              <a:buChar char="•"/>
            </a:pPr>
            <a:r>
              <a:rPr lang="en-US" sz="1600" b="1" i="0" dirty="0">
                <a:solidFill>
                  <a:srgbClr val="C00000"/>
                </a:solidFill>
                <a:latin typeface="Times New Roman" panose="02020603050405020304" pitchFamily="18" charset="0"/>
                <a:cs typeface="Times New Roman" panose="02020603050405020304" pitchFamily="18" charset="0"/>
              </a:rPr>
              <a:t>Priority Queue / Heap: </a:t>
            </a:r>
            <a:r>
              <a:rPr lang="en-US" sz="1600" b="0" i="0" dirty="0">
                <a:solidFill>
                  <a:srgbClr val="000000"/>
                </a:solidFill>
                <a:latin typeface="Times New Roman" panose="02020603050405020304" pitchFamily="18" charset="0"/>
                <a:cs typeface="Times New Roman" panose="02020603050405020304" pitchFamily="18" charset="0"/>
              </a:rPr>
              <a:t>Efficient top-k retrieval (O(n log k)) to return best matches without a full sort.</a:t>
            </a:r>
          </a:p>
          <a:p>
            <a:pPr marL="285750" indent="-285750">
              <a:lnSpc>
                <a:spcPct val="105000"/>
              </a:lnSpc>
              <a:spcAft>
                <a:spcPts val="350"/>
              </a:spcAft>
              <a:buFont typeface="Arial" panose="020B0604020202020204" pitchFamily="34" charset="0"/>
              <a:buChar char="•"/>
            </a:pPr>
            <a:r>
              <a:rPr lang="en-US" sz="1600" b="1" i="0" dirty="0">
                <a:solidFill>
                  <a:srgbClr val="C00000"/>
                </a:solidFill>
                <a:latin typeface="Times New Roman" panose="02020603050405020304" pitchFamily="18" charset="0"/>
                <a:cs typeface="Times New Roman" panose="02020603050405020304" pitchFamily="18" charset="0"/>
              </a:rPr>
              <a:t>Binary &amp; Linear Search: </a:t>
            </a:r>
            <a:r>
              <a:rPr lang="en-US" sz="1600" b="0" i="0" dirty="0">
                <a:solidFill>
                  <a:srgbClr val="000000"/>
                </a:solidFill>
                <a:latin typeface="Times New Roman" panose="02020603050405020304" pitchFamily="18" charset="0"/>
                <a:cs typeface="Times New Roman" panose="02020603050405020304" pitchFamily="18" charset="0"/>
              </a:rPr>
              <a:t>Binary search on sorted attributes (e.g., experience); linear scan with pruning for composite queries.</a:t>
            </a:r>
          </a:p>
          <a:p>
            <a:pPr marL="285750" indent="-285750">
              <a:lnSpc>
                <a:spcPct val="105000"/>
              </a:lnSpc>
              <a:spcAft>
                <a:spcPts val="350"/>
              </a:spcAft>
              <a:buFont typeface="Arial" panose="020B0604020202020204" pitchFamily="34" charset="0"/>
              <a:buChar char="•"/>
            </a:pPr>
            <a:r>
              <a:rPr lang="en-US" sz="1600" b="1" i="0" dirty="0">
                <a:solidFill>
                  <a:srgbClr val="C00000"/>
                </a:solidFill>
                <a:latin typeface="Times New Roman" panose="02020603050405020304" pitchFamily="18" charset="0"/>
                <a:cs typeface="Times New Roman" panose="02020603050405020304" pitchFamily="18" charset="0"/>
              </a:rPr>
              <a:t>Sorting (merge/quick): </a:t>
            </a:r>
            <a:r>
              <a:rPr lang="en-US" sz="1600" b="0" i="0" dirty="0">
                <a:solidFill>
                  <a:srgbClr val="000000"/>
                </a:solidFill>
                <a:latin typeface="Times New Roman" panose="02020603050405020304" pitchFamily="18" charset="0"/>
                <a:cs typeface="Times New Roman" panose="02020603050405020304" pitchFamily="18" charset="0"/>
              </a:rPr>
              <a:t>Ranks candidates by computed match scores.</a:t>
            </a:r>
          </a:p>
        </p:txBody>
      </p:sp>
      <p:sp>
        <p:nvSpPr>
          <p:cNvPr id="102" name="Body 102"/>
          <p:cNvSpPr txBox="1"/>
          <p:nvPr/>
        </p:nvSpPr>
        <p:spPr>
          <a:xfrm>
            <a:off x="7400000" y="1050000"/>
            <a:ext cx="4000000" cy="5500000"/>
          </a:xfrm>
          <a:prstGeom prst="rect">
            <a:avLst/>
          </a:prstGeom>
          <a:noFill/>
        </p:spPr>
        <p:txBody>
          <a:bodyPr wrap="square" anchor="t">
            <a:normAutofit/>
          </a:bodyPr>
          <a:lstStyle/>
          <a:p>
            <a:pPr>
              <a:lnSpc>
                <a:spcPct val="105000"/>
              </a:lnSpc>
              <a:spcAft>
                <a:spcPts val="600"/>
              </a:spcAft>
              <a:buNone/>
            </a:pPr>
            <a:r>
              <a:rPr lang="en-US" sz="2000" b="1" i="0" dirty="0">
                <a:solidFill>
                  <a:srgbClr val="C00000"/>
                </a:solidFill>
                <a:latin typeface="Times New Roman" panose="02020603050405020304" pitchFamily="18" charset="0"/>
                <a:cs typeface="Times New Roman" panose="02020603050405020304" pitchFamily="18" charset="0"/>
              </a:rPr>
              <a:t>Sample Ranked Output — Candidate: Harshika</a:t>
            </a:r>
          </a:p>
          <a:p>
            <a:pPr marL="285750" indent="-285750">
              <a:lnSpc>
                <a:spcPct val="105000"/>
              </a:lnSpc>
              <a:spcAft>
                <a:spcPts val="500"/>
              </a:spcAft>
              <a:buFont typeface="Arial" panose="020B0604020202020204" pitchFamily="34" charset="0"/>
              <a:buChar char="•"/>
            </a:pPr>
            <a:r>
              <a:rPr lang="en-US" sz="2000" b="0" i="0" dirty="0">
                <a:solidFill>
                  <a:srgbClr val="000000"/>
                </a:solidFill>
                <a:latin typeface="Times New Roman" panose="02020603050405020304" pitchFamily="18" charset="0"/>
                <a:cs typeface="Times New Roman" panose="02020603050405020304" pitchFamily="18" charset="0"/>
              </a:rPr>
              <a:t>Java Developer — 85%</a:t>
            </a:r>
          </a:p>
          <a:p>
            <a:pPr marL="285750" indent="-285750">
              <a:lnSpc>
                <a:spcPct val="105000"/>
              </a:lnSpc>
              <a:spcAft>
                <a:spcPts val="500"/>
              </a:spcAft>
              <a:buFont typeface="Arial" panose="020B0604020202020204" pitchFamily="34" charset="0"/>
              <a:buChar char="•"/>
            </a:pPr>
            <a:r>
              <a:rPr lang="en-US" sz="2000" b="0" i="0" dirty="0">
                <a:solidFill>
                  <a:srgbClr val="000000"/>
                </a:solidFill>
                <a:latin typeface="Times New Roman" panose="02020603050405020304" pitchFamily="18" charset="0"/>
                <a:cs typeface="Times New Roman" panose="02020603050405020304" pitchFamily="18" charset="0"/>
              </a:rPr>
              <a:t>Software Developer — 75%</a:t>
            </a:r>
          </a:p>
          <a:p>
            <a:pPr marL="285750" indent="-285750">
              <a:lnSpc>
                <a:spcPct val="105000"/>
              </a:lnSpc>
              <a:spcAft>
                <a:spcPts val="500"/>
              </a:spcAft>
              <a:buFont typeface="Arial" panose="020B0604020202020204" pitchFamily="34" charset="0"/>
              <a:buChar char="•"/>
            </a:pPr>
            <a:r>
              <a:rPr lang="en-US" sz="2000" b="0" i="0" dirty="0">
                <a:solidFill>
                  <a:srgbClr val="000000"/>
                </a:solidFill>
                <a:latin typeface="Times New Roman" panose="02020603050405020304" pitchFamily="18" charset="0"/>
                <a:cs typeface="Times New Roman" panose="02020603050405020304" pitchFamily="18" charset="0"/>
              </a:rPr>
              <a:t>Web Developer — 65%</a:t>
            </a:r>
          </a:p>
          <a:p>
            <a:pPr marL="285750" indent="-285750">
              <a:lnSpc>
                <a:spcPct val="105000"/>
              </a:lnSpc>
              <a:spcAft>
                <a:spcPts val="500"/>
              </a:spcAft>
              <a:buFont typeface="Arial" panose="020B0604020202020204" pitchFamily="34" charset="0"/>
              <a:buChar char="•"/>
            </a:pPr>
            <a:r>
              <a:rPr lang="en-US" sz="2000" b="0" i="0" dirty="0">
                <a:solidFill>
                  <a:srgbClr val="000000"/>
                </a:solidFill>
                <a:latin typeface="Times New Roman" panose="02020603050405020304" pitchFamily="18" charset="0"/>
                <a:cs typeface="Times New Roman" panose="02020603050405020304" pitchFamily="18" charset="0"/>
              </a:rPr>
              <a:t>Data Analyst — 50%</a:t>
            </a:r>
          </a:p>
          <a:p>
            <a:pPr>
              <a:lnSpc>
                <a:spcPct val="105000"/>
              </a:lnSpc>
              <a:spcAft>
                <a:spcPts val="0"/>
              </a:spcAft>
              <a:buNone/>
            </a:pPr>
            <a:r>
              <a:rPr lang="en-US" sz="1600" b="0" i="1" dirty="0">
                <a:solidFill>
                  <a:srgbClr val="000000"/>
                </a:solidFill>
                <a:latin typeface="Times New Roman" panose="02020603050405020304" pitchFamily="18" charset="0"/>
                <a:cs typeface="Times New Roman" panose="02020603050405020304" pitchFamily="18" charset="0"/>
              </a:rPr>
              <a:t>Scores are deterministic given the same inputs (skill overlap + weighting rules); mock data shown, to be replaced with live system output.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101" name="Body 101"/>
          <p:cNvSpPr txBox="1"/>
          <p:nvPr/>
        </p:nvSpPr>
        <p:spPr>
          <a:xfrm>
            <a:off x="3100000" y="1050000"/>
            <a:ext cx="4000000" cy="3200000"/>
          </a:xfrm>
          <a:prstGeom prst="rect">
            <a:avLst/>
          </a:prstGeom>
          <a:noFill/>
        </p:spPr>
        <p:txBody>
          <a:bodyPr wrap="square" anchor="t">
            <a:normAutofit/>
          </a:bodyPr>
          <a:lstStyle/>
          <a:p>
            <a:pPr>
              <a:lnSpc>
                <a:spcPct val="105000"/>
              </a:lnSpc>
              <a:spcAft>
                <a:spcPts val="500"/>
              </a:spcAft>
              <a:buNone/>
            </a:pPr>
            <a:r>
              <a:rPr lang="en-US" sz="2000" b="1" i="0" dirty="0">
                <a:solidFill>
                  <a:srgbClr val="C00000"/>
                </a:solidFill>
                <a:latin typeface="Times New Roman" panose="02020603050405020304" pitchFamily="18" charset="0"/>
                <a:cs typeface="Times New Roman" panose="02020603050405020304" pitchFamily="18" charset="0"/>
              </a:rPr>
              <a:t>Hardware</a:t>
            </a: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Times New Roman" panose="02020603050405020304" pitchFamily="18" charset="0"/>
                <a:cs typeface="Times New Roman" panose="02020603050405020304" pitchFamily="18" charset="0"/>
              </a:rPr>
              <a:t>Laptop / Desktop computer</a:t>
            </a: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Times New Roman" panose="02020603050405020304" pitchFamily="18" charset="0"/>
                <a:cs typeface="Times New Roman" panose="02020603050405020304" pitchFamily="18" charset="0"/>
              </a:rPr>
              <a:t>Minimum 4 GB RAM</a:t>
            </a: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Times New Roman" panose="02020603050405020304" pitchFamily="18" charset="0"/>
                <a:cs typeface="Times New Roman" panose="02020603050405020304" pitchFamily="18" charset="0"/>
              </a:rPr>
              <a:t>i3-equivalent CPU or higher</a:t>
            </a:r>
          </a:p>
        </p:txBody>
      </p:sp>
      <p:sp>
        <p:nvSpPr>
          <p:cNvPr id="102" name="Body 102"/>
          <p:cNvSpPr txBox="1"/>
          <p:nvPr/>
        </p:nvSpPr>
        <p:spPr>
          <a:xfrm>
            <a:off x="7400000" y="1050000"/>
            <a:ext cx="4000000" cy="3800000"/>
          </a:xfrm>
          <a:prstGeom prst="rect">
            <a:avLst/>
          </a:prstGeom>
          <a:noFill/>
        </p:spPr>
        <p:txBody>
          <a:bodyPr wrap="square" anchor="t">
            <a:normAutofit/>
          </a:bodyPr>
          <a:lstStyle/>
          <a:p>
            <a:pPr>
              <a:lnSpc>
                <a:spcPct val="105000"/>
              </a:lnSpc>
              <a:spcAft>
                <a:spcPts val="500"/>
              </a:spcAft>
              <a:buNone/>
            </a:pPr>
            <a:r>
              <a:rPr lang="en-US" sz="2000" b="1" i="0" dirty="0">
                <a:solidFill>
                  <a:srgbClr val="C00000"/>
                </a:solidFill>
                <a:latin typeface="Times New Roman" panose="02020603050405020304" pitchFamily="18" charset="0"/>
                <a:cs typeface="Times New Roman" panose="02020603050405020304" pitchFamily="18" charset="0"/>
              </a:rPr>
              <a:t>Software</a:t>
            </a: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Times New Roman" panose="02020603050405020304" pitchFamily="18" charset="0"/>
                <a:cs typeface="Times New Roman" panose="02020603050405020304" pitchFamily="18" charset="0"/>
              </a:rPr>
              <a:t>Java runtime environment</a:t>
            </a: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Times New Roman" panose="02020603050405020304" pitchFamily="18" charset="0"/>
                <a:cs typeface="Times New Roman" panose="02020603050405020304" pitchFamily="18" charset="0"/>
              </a:rPr>
              <a:t>IDE: VS Code / IntelliJ IDEA</a:t>
            </a: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Times New Roman" panose="02020603050405020304" pitchFamily="18" charset="0"/>
                <a:cs typeface="Times New Roman" panose="02020603050405020304" pitchFamily="18" charset="0"/>
              </a:rPr>
              <a:t>Optional web stack: HTML, CSS, JavaScript</a:t>
            </a: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Times New Roman" panose="02020603050405020304" pitchFamily="18" charset="0"/>
                <a:cs typeface="Times New Roman" panose="02020603050405020304" pitchFamily="18" charset="0"/>
              </a:rPr>
              <a:t>Database: MySQL / MongoDB</a:t>
            </a: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Times New Roman" panose="02020603050405020304" pitchFamily="18" charset="0"/>
                <a:cs typeface="Times New Roman" panose="02020603050405020304" pitchFamily="18" charset="0"/>
              </a:rPr>
              <a:t>Version control: Git / GitHub for collaboration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101" name="Body 101"/>
          <p:cNvSpPr txBox="1"/>
          <p:nvPr/>
        </p:nvSpPr>
        <p:spPr>
          <a:xfrm>
            <a:off x="3100000" y="1050000"/>
            <a:ext cx="8300000" cy="5000000"/>
          </a:xfrm>
          <a:prstGeom prst="rect">
            <a:avLst/>
          </a:prstGeom>
          <a:noFill/>
        </p:spPr>
        <p:txBody>
          <a:bodyPr wrap="square" anchor="t">
            <a:normAutofit/>
          </a:bodyPr>
          <a:lstStyle/>
          <a:p>
            <a:pPr>
              <a:lnSpc>
                <a:spcPct val="105000"/>
              </a:lnSpc>
              <a:spcAft>
                <a:spcPts val="900"/>
              </a:spcAft>
              <a:buNone/>
            </a:pPr>
            <a:r>
              <a:rPr lang="en-US" sz="2000" b="0" i="0" dirty="0">
                <a:solidFill>
                  <a:srgbClr val="000000"/>
                </a:solidFill>
                <a:latin typeface="Times New Roman" panose="02020603050405020304" pitchFamily="18" charset="0"/>
                <a:cs typeface="Times New Roman" panose="02020603050405020304" pitchFamily="18" charset="0"/>
              </a:rPr>
              <a:t>Efficient data structures combined with targeted algorithms deliver fast, explainable match scores that improve recruiter throughput and candidate relevance.</a:t>
            </a:r>
          </a:p>
          <a:p>
            <a:pPr>
              <a:lnSpc>
                <a:spcPct val="105000"/>
              </a:lnSpc>
              <a:spcAft>
                <a:spcPts val="900"/>
              </a:spcAft>
              <a:buNone/>
            </a:pPr>
            <a:r>
              <a:rPr lang="en-US" sz="2000" b="0" i="0" dirty="0">
                <a:solidFill>
                  <a:srgbClr val="000000"/>
                </a:solidFill>
                <a:latin typeface="Times New Roman" panose="02020603050405020304" pitchFamily="18" charset="0"/>
                <a:cs typeface="Times New Roman" panose="02020603050405020304" pitchFamily="18" charset="0"/>
              </a:rPr>
              <a:t>The engine offers a concise, production-ready pipeline for matching candidate resumes to open positions using structured data, efficient algorithms, and clear ranking logic — built for hiring managers, recruiters, and students alike.</a:t>
            </a:r>
          </a:p>
          <a:p>
            <a:pPr>
              <a:lnSpc>
                <a:spcPct val="105000"/>
              </a:lnSpc>
              <a:spcAft>
                <a:spcPts val="0"/>
              </a:spcAft>
              <a:buNone/>
            </a:pPr>
            <a:r>
              <a:rPr lang="en-US" sz="2000" b="0" i="0" dirty="0">
                <a:solidFill>
                  <a:srgbClr val="000000"/>
                </a:solidFill>
                <a:latin typeface="Times New Roman" panose="02020603050405020304" pitchFamily="18" charset="0"/>
                <a:cs typeface="Times New Roman" panose="02020603050405020304" pitchFamily="18" charset="0"/>
              </a:rPr>
              <a:t>Additional features like skill-gap analysis, career roadmaps, and mock-interview preparation add practical value for candidates while keeping recruiter screening fast and accurate.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101" name="Body 101"/>
          <p:cNvSpPr txBox="1"/>
          <p:nvPr/>
        </p:nvSpPr>
        <p:spPr>
          <a:xfrm>
            <a:off x="3100000" y="1050000"/>
            <a:ext cx="4000000" cy="4200000"/>
          </a:xfrm>
          <a:prstGeom prst="rect">
            <a:avLst/>
          </a:prstGeom>
          <a:noFill/>
        </p:spPr>
        <p:txBody>
          <a:bodyPr wrap="square" anchor="t">
            <a:normAutofit/>
          </a:bodyPr>
          <a:lstStyle/>
          <a:p>
            <a:pPr>
              <a:lnSpc>
                <a:spcPct val="105000"/>
              </a:lnSpc>
              <a:spcAft>
                <a:spcPts val="500"/>
              </a:spcAft>
              <a:buNone/>
            </a:pPr>
            <a:r>
              <a:rPr lang="en-US" sz="2000" b="1" i="0" dirty="0">
                <a:solidFill>
                  <a:srgbClr val="C00000"/>
                </a:solidFill>
                <a:latin typeface="Times New Roman" panose="02020603050405020304" pitchFamily="18" charset="0"/>
                <a:cs typeface="Times New Roman" panose="02020603050405020304" pitchFamily="18" charset="0"/>
              </a:rPr>
              <a:t>Short-Term Roadmap</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Add weighted skill importance and experience-decay factors.</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Integrate semantic matching (embeddings) as an optional module.</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Evaluate on a labeled dataset and measure precision@k and recall.</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Optimize ranking thresholds and indexing for incremental updates.</a:t>
            </a:r>
          </a:p>
        </p:txBody>
      </p:sp>
      <p:sp>
        <p:nvSpPr>
          <p:cNvPr id="102" name="Body 102"/>
          <p:cNvSpPr txBox="1"/>
          <p:nvPr/>
        </p:nvSpPr>
        <p:spPr>
          <a:xfrm>
            <a:off x="7400000" y="1050000"/>
            <a:ext cx="4000000" cy="4200000"/>
          </a:xfrm>
          <a:prstGeom prst="rect">
            <a:avLst/>
          </a:prstGeom>
          <a:noFill/>
        </p:spPr>
        <p:txBody>
          <a:bodyPr wrap="square" anchor="t">
            <a:normAutofit/>
          </a:bodyPr>
          <a:lstStyle/>
          <a:p>
            <a:pPr>
              <a:lnSpc>
                <a:spcPct val="105000"/>
              </a:lnSpc>
              <a:spcAft>
                <a:spcPts val="500"/>
              </a:spcAft>
              <a:buNone/>
            </a:pPr>
            <a:r>
              <a:rPr lang="en-US" sz="2000" b="1" i="0" dirty="0">
                <a:solidFill>
                  <a:srgbClr val="C00000"/>
                </a:solidFill>
                <a:latin typeface="Times New Roman" panose="02020603050405020304" pitchFamily="18" charset="0"/>
                <a:cs typeface="Times New Roman" panose="02020603050405020304" pitchFamily="18" charset="0"/>
              </a:rPr>
              <a:t>Long-Term Vision</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Personalized recommendations via an ML-driven career assistant.</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Recruiter analytics dashboards for hiring insights.</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Mobile-first experience backed by cloud storage.</a:t>
            </a:r>
          </a:p>
          <a:p>
            <a:pPr marL="285750" indent="-285750">
              <a:lnSpc>
                <a:spcPct val="105000"/>
              </a:lnSpc>
              <a:spcAft>
                <a:spcPts val="450"/>
              </a:spcAft>
              <a:buFont typeface="Arial" panose="020B0604020202020204" pitchFamily="34" charset="0"/>
              <a:buChar char="•"/>
            </a:pPr>
            <a:r>
              <a:rPr lang="en-US" b="0" i="0" dirty="0">
                <a:solidFill>
                  <a:srgbClr val="000000"/>
                </a:solidFill>
                <a:latin typeface="Times New Roman" panose="02020603050405020304" pitchFamily="18" charset="0"/>
                <a:cs typeface="Times New Roman" panose="02020603050405020304" pitchFamily="18" charset="0"/>
              </a:rPr>
              <a:t>Scalable indexing for large-scale deployment.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944</Words>
  <Application>Microsoft Office PowerPoint</Application>
  <PresentationFormat>Widescreen</PresentationFormat>
  <Paragraphs>85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Data Structures and Algorithms -3 (25CS2103E)  Resume–Job Matching &amp; Talent Marketplace Engine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Madhulika Chilumula</cp:lastModifiedBy>
  <cp:revision>20</cp:revision>
  <dcterms:created xsi:type="dcterms:W3CDTF">2024-08-29T05:25:00Z</dcterms:created>
  <dcterms:modified xsi:type="dcterms:W3CDTF">2026-09-01T04:16:17Z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1033-12.1.0.28032</vt:lpwstr>
  </property>
</Properties>
</file>